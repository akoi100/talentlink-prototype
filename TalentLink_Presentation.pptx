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TALENTLINK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B300"/>
                </a:solidFill>
              </a:defRPr>
            </a:pPr>
            <a:r>
              <a:t>Official Co-Curricular Tracking &amp; Talent Scouting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The Problem: Fragmented Ecosystems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br/>
            <a:r>
              <a:t>No Official Verification</a:t>
            </a:r>
            <a:br/>
            <a:endParaRPr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t>Achievements are self-reported. Hard for sponsors to trust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br/>
            <a:r>
              <a:t>Disconnected Opportunities</a:t>
            </a:r>
            <a:br/>
            <a:endParaRPr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t>Scouts and sponsors cannot easily find rising local talent.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2860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br/>
            <a:r>
              <a:t>No Centralized Record</a:t>
            </a:r>
            <a:br/>
            <a:endParaRPr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t>Co-curricular data isn't tracked officially like academics.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The Solution: A Single Verifiable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926080" cy="22860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B300"/>
                </a:solidFill>
              </a:defRPr>
            </a:pPr>
            <a:br/>
            <a:r>
              <a:t>1. Certified Input</a:t>
            </a:r>
            <a:br/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Officials input scores directly from the field.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31920" y="3657600"/>
            <a:ext cx="548640" cy="365760"/>
          </a:xfrm>
          <a:prstGeom prst="rightArrow">
            <a:avLst/>
          </a:prstGeom>
          <a:solidFill>
            <a:srgbClr val="FFB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2926080" cy="22860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B300"/>
                </a:solidFill>
              </a:defRPr>
            </a:pPr>
            <a:br>
              <a:rPr dirty="0"/>
            </a:br>
            <a:r>
              <a:rPr dirty="0"/>
              <a:t>2. Student </a:t>
            </a:r>
            <a:r>
              <a:rPr lang="en-US" dirty="0"/>
              <a:t>Profile</a:t>
            </a:r>
            <a:br>
              <a:rPr dirty="0"/>
            </a:br>
            <a:endParaRPr dirty="0"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System aggregates verified metrics &amp; badges.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89520" y="3657600"/>
            <a:ext cx="548640" cy="365760"/>
          </a:xfrm>
          <a:prstGeom prst="rightArrow">
            <a:avLst/>
          </a:prstGeom>
          <a:solidFill>
            <a:srgbClr val="FFB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2926080" cy="22860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B300"/>
                </a:solidFill>
              </a:defRPr>
            </a:pPr>
            <a:br/>
            <a:r>
              <a:t>3. Scouting &amp; Offers</a:t>
            </a:r>
            <a:br/>
            <a:endParaRPr/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Sponsors filter data &amp; offer scholarships.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64773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Who is this for?</a:t>
            </a:r>
            <a:r>
              <a:rPr lang="en-US" dirty="0"/>
              <a:t> (Target User) </a:t>
            </a:r>
            <a:endParaRPr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75448" y="2286000"/>
            <a:ext cx="2766437" cy="3441032"/>
          </a:xfrm>
          <a:prstGeom prst="snip2Diag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br>
              <a:rPr dirty="0"/>
            </a:br>
            <a:r>
              <a:rPr lang="en-US" dirty="0"/>
              <a:t>Data Feeders</a:t>
            </a:r>
            <a:br>
              <a:rPr dirty="0"/>
            </a:br>
            <a:r>
              <a:rPr lang="en-US" sz="2000" dirty="0"/>
              <a:t>(Referees &amp; Judges)</a:t>
            </a:r>
            <a:br>
              <a:rPr lang="en-US" sz="2050" dirty="0"/>
            </a:br>
            <a:endParaRPr lang="en-US" sz="2050" dirty="0"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Provide the official data.</a:t>
            </a:r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Moreover, they input match statistics, rubrics, and awards</a:t>
            </a:r>
            <a:endParaRPr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3282261" y="2286000"/>
            <a:ext cx="2650122" cy="3441032"/>
          </a:xfrm>
          <a:prstGeom prst="snip2Diag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br>
              <a:rPr dirty="0"/>
            </a:br>
            <a:r>
              <a:rPr lang="en-US" dirty="0"/>
              <a:t>Talent Seekers</a:t>
            </a:r>
            <a:br>
              <a:rPr dirty="0"/>
            </a:br>
            <a:r>
              <a:rPr lang="en-US" sz="1900" dirty="0"/>
              <a:t>(</a:t>
            </a:r>
            <a:r>
              <a:rPr sz="1900" dirty="0"/>
              <a:t>Scouts &amp; Sponsors</a:t>
            </a:r>
            <a:r>
              <a:rPr lang="en-US" sz="1900" dirty="0"/>
              <a:t>)</a:t>
            </a:r>
            <a:br>
              <a:rPr dirty="0"/>
            </a:br>
            <a:endParaRPr dirty="0"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Browse the verified database, filter by discipline, and offer scholarships.</a:t>
            </a:r>
          </a:p>
          <a:p>
            <a:pPr algn="ctr">
              <a:defRPr sz="1800">
                <a:solidFill>
                  <a:srgbClr val="1E293B"/>
                </a:solidFill>
              </a:defRPr>
            </a:pPr>
            <a:endParaRPr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9463254" y="2286000"/>
            <a:ext cx="2650122" cy="3441032"/>
          </a:xfrm>
          <a:prstGeom prst="snip2Diag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r>
              <a:rPr dirty="0"/>
              <a:t>Students</a:t>
            </a:r>
            <a:br>
              <a:rPr dirty="0"/>
            </a:br>
            <a:endParaRPr lang="en-US" dirty="0"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Build a verifiable track record.</a:t>
            </a:r>
          </a:p>
        </p:txBody>
      </p:sp>
      <p:sp>
        <p:nvSpPr>
          <p:cNvPr id="6" name="Snip Diagonal Corner Rectangle 3">
            <a:extLst>
              <a:ext uri="{FF2B5EF4-FFF2-40B4-BE49-F238E27FC236}">
                <a16:creationId xmlns:a16="http://schemas.microsoft.com/office/drawing/2014/main" id="{1EFBBDE8-C33C-8A40-0EBA-4367F948FD18}"/>
              </a:ext>
            </a:extLst>
          </p:cNvPr>
          <p:cNvSpPr/>
          <p:nvPr/>
        </p:nvSpPr>
        <p:spPr>
          <a:xfrm>
            <a:off x="6372757" y="2245897"/>
            <a:ext cx="2650122" cy="3441032"/>
          </a:xfrm>
          <a:prstGeom prst="snip2Diag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D47A1"/>
                </a:solidFill>
              </a:defRPr>
            </a:pPr>
            <a:r>
              <a:rPr lang="en-US" dirty="0"/>
              <a:t>Administrators</a:t>
            </a:r>
            <a:br>
              <a:rPr dirty="0"/>
            </a:br>
            <a:endParaRPr dirty="0"/>
          </a:p>
          <a:p>
            <a:pPr algn="ctr">
              <a:defRPr sz="1800">
                <a:solidFill>
                  <a:srgbClr val="1E293B"/>
                </a:solidFill>
              </a:defRPr>
            </a:pPr>
            <a:r>
              <a:rPr lang="en-US" dirty="0"/>
              <a:t>Oversee the integrity of the data and approve inquiries.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Core Process 1: Verification &amp; Scoring</a:t>
            </a:r>
          </a:p>
        </p:txBody>
      </p:sp>
      <p:sp>
        <p:nvSpPr>
          <p:cNvPr id="3" name="Pentagon 2"/>
          <p:cNvSpPr/>
          <p:nvPr/>
        </p:nvSpPr>
        <p:spPr>
          <a:xfrm>
            <a:off x="914400" y="2743200"/>
            <a:ext cx="2926080" cy="1645920"/>
          </a:xfrm>
          <a:prstGeom prst="homePlate">
            <a:avLst/>
          </a:prstGeom>
          <a:solidFill>
            <a:srgbClr val="0D47A1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B300"/>
                </a:solidFill>
              </a:defRPr>
            </a:pPr>
            <a:r>
              <a:t>1. Event Occurs</a:t>
            </a:r>
            <a:br/>
            <a:endParaRPr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A sports match, play, or debate happens.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0" y="1828800"/>
            <a:ext cx="2926080" cy="1645920"/>
          </a:xfrm>
          <a:prstGeom prst="homePlate">
            <a:avLst/>
          </a:prstGeom>
          <a:solidFill>
            <a:srgbClr val="0D47A1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B300"/>
                </a:solidFill>
              </a:defRPr>
            </a:pPr>
            <a:r>
              <a:t>2. Official Login</a:t>
            </a:r>
            <a:br/>
            <a:endParaRPr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Referee/Adjudicator logs into workspace.</a:t>
            </a:r>
          </a:p>
        </p:txBody>
      </p:sp>
      <p:sp>
        <p:nvSpPr>
          <p:cNvPr id="5" name="Pentagon 4"/>
          <p:cNvSpPr/>
          <p:nvPr/>
        </p:nvSpPr>
        <p:spPr>
          <a:xfrm>
            <a:off x="8229600" y="2743200"/>
            <a:ext cx="2926080" cy="1645920"/>
          </a:xfrm>
          <a:prstGeom prst="homePlate">
            <a:avLst/>
          </a:prstGeom>
          <a:solidFill>
            <a:srgbClr val="0D47A1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B300"/>
                </a:solidFill>
              </a:defRPr>
            </a:pPr>
            <a:r>
              <a:t>3. Submits Data</a:t>
            </a:r>
            <a:br/>
            <a:endParaRPr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Scores &amp; MVP candidates are entered.</a:t>
            </a:r>
          </a:p>
        </p:txBody>
      </p:sp>
      <p:sp>
        <p:nvSpPr>
          <p:cNvPr id="6" name="Pentagon 5"/>
          <p:cNvSpPr/>
          <p:nvPr/>
        </p:nvSpPr>
        <p:spPr>
          <a:xfrm>
            <a:off x="4572000" y="4572000"/>
            <a:ext cx="2926080" cy="1645920"/>
          </a:xfrm>
          <a:prstGeom prst="homePlate">
            <a:avLst/>
          </a:prstGeom>
          <a:solidFill>
            <a:srgbClr val="0D47A1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B300"/>
                </a:solidFill>
              </a:defRPr>
            </a:pPr>
            <a:r>
              <a:rPr dirty="0"/>
              <a:t>4. System Lock</a:t>
            </a:r>
            <a:r>
              <a:rPr lang="en-US" dirty="0"/>
              <a:t> (Result)</a:t>
            </a:r>
            <a:br>
              <a:rPr dirty="0"/>
            </a:br>
            <a:endParaRPr dirty="0"/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rPr lang="en-US" dirty="0"/>
              <a:t>The record is locked into the 'Official Logs' and updates the student's metrics.</a:t>
            </a:r>
            <a:endParaRPr dirty="0"/>
          </a:p>
        </p:txBody>
      </p:sp>
      <p:cxnSp>
        <p:nvCxnSpPr>
          <p:cNvPr id="7" name="Connector 6"/>
          <p:cNvCxnSpPr/>
          <p:nvPr/>
        </p:nvCxnSpPr>
        <p:spPr>
          <a:xfrm flipV="1">
            <a:off x="3840480" y="2651760"/>
            <a:ext cx="731520" cy="9144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2651760"/>
            <a:ext cx="731521" cy="9144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98079" y="4389120"/>
            <a:ext cx="822961" cy="100584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Core Process 2: Scouting &amp; Sponsoring</a:t>
            </a:r>
          </a:p>
        </p:txBody>
      </p:sp>
      <p:sp>
        <p:nvSpPr>
          <p:cNvPr id="3" name="Hexagon 2"/>
          <p:cNvSpPr/>
          <p:nvPr/>
        </p:nvSpPr>
        <p:spPr>
          <a:xfrm>
            <a:off x="214592" y="3162701"/>
            <a:ext cx="2431108" cy="22860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br>
              <a:rPr dirty="0"/>
            </a:br>
            <a:r>
              <a:rPr dirty="0"/>
              <a:t>Search</a:t>
            </a:r>
            <a:endParaRPr lang="en-US" dirty="0"/>
          </a:p>
          <a:p>
            <a:pPr algn="ctr">
              <a:defRPr sz="2200" b="1">
                <a:solidFill>
                  <a:srgbClr val="0D47A1"/>
                </a:solidFill>
              </a:defRPr>
            </a:pPr>
            <a:endParaRPr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dirty="0"/>
              <a:t>Sponsor</a:t>
            </a:r>
            <a:r>
              <a:rPr lang="en-US" dirty="0"/>
              <a:t>s/Scouts</a:t>
            </a:r>
            <a:r>
              <a:rPr dirty="0"/>
              <a:t> filter grid by category</a:t>
            </a:r>
            <a:r>
              <a:rPr lang="en-US" dirty="0"/>
              <a:t> and metrics.</a:t>
            </a:r>
            <a:endParaRPr dirty="0"/>
          </a:p>
        </p:txBody>
      </p:sp>
      <p:sp>
        <p:nvSpPr>
          <p:cNvPr id="4" name="Chevron 3"/>
          <p:cNvSpPr/>
          <p:nvPr/>
        </p:nvSpPr>
        <p:spPr>
          <a:xfrm>
            <a:off x="2599056" y="3931920"/>
            <a:ext cx="731520" cy="731520"/>
          </a:xfrm>
          <a:prstGeom prst="chevron">
            <a:avLst/>
          </a:prstGeom>
          <a:solidFill>
            <a:srgbClr val="FFB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3446184" y="3146659"/>
            <a:ext cx="2421539" cy="22860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br>
              <a:rPr dirty="0"/>
            </a:br>
            <a:r>
              <a:rPr dirty="0"/>
              <a:t>Review</a:t>
            </a:r>
            <a:br>
              <a:rPr dirty="0"/>
            </a:br>
            <a:endParaRPr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lang="en-US" dirty="0"/>
              <a:t>They a</a:t>
            </a:r>
            <a:r>
              <a:rPr dirty="0"/>
              <a:t>nalyze</a:t>
            </a:r>
            <a:r>
              <a:rPr lang="en-US" dirty="0"/>
              <a:t> or review t</a:t>
            </a:r>
            <a:r>
              <a:rPr dirty="0"/>
              <a:t>he Verified Student Profile.</a:t>
            </a:r>
          </a:p>
        </p:txBody>
      </p:sp>
      <p:sp>
        <p:nvSpPr>
          <p:cNvPr id="6" name="Chevron 5"/>
          <p:cNvSpPr/>
          <p:nvPr/>
        </p:nvSpPr>
        <p:spPr>
          <a:xfrm>
            <a:off x="5812429" y="3923899"/>
            <a:ext cx="731520" cy="731520"/>
          </a:xfrm>
          <a:prstGeom prst="chevron">
            <a:avLst/>
          </a:prstGeom>
          <a:solidFill>
            <a:srgbClr val="FFB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6631452" y="3146659"/>
            <a:ext cx="2400671" cy="22860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r>
              <a:rPr dirty="0"/>
              <a:t>Dispatch</a:t>
            </a:r>
            <a:br>
              <a:rPr dirty="0"/>
            </a:br>
            <a:endParaRPr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dirty="0"/>
              <a:t>Sends formal scholarship offer via platform.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3DC41F4F-2B22-D625-8A1D-3856522885B4}"/>
              </a:ext>
            </a:extLst>
          </p:cNvPr>
          <p:cNvSpPr/>
          <p:nvPr/>
        </p:nvSpPr>
        <p:spPr>
          <a:xfrm>
            <a:off x="9788153" y="3192379"/>
            <a:ext cx="2400671" cy="228600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D47A1"/>
                </a:solidFill>
              </a:defRPr>
            </a:pPr>
            <a:br>
              <a:rPr dirty="0"/>
            </a:br>
            <a:r>
              <a:rPr lang="en-US" dirty="0"/>
              <a:t>Result</a:t>
            </a:r>
            <a:br>
              <a:rPr dirty="0"/>
            </a:br>
            <a:endParaRPr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lang="en-US" dirty="0"/>
              <a:t>The school administration reviews and approves the connection</a:t>
            </a:r>
            <a:r>
              <a:rPr dirty="0"/>
              <a:t>.</a:t>
            </a:r>
          </a:p>
        </p:txBody>
      </p:sp>
      <p:sp>
        <p:nvSpPr>
          <p:cNvPr id="9" name="Chevron 5">
            <a:extLst>
              <a:ext uri="{FF2B5EF4-FFF2-40B4-BE49-F238E27FC236}">
                <a16:creationId xmlns:a16="http://schemas.microsoft.com/office/drawing/2014/main" id="{5E3066C0-9628-FD41-AF33-EBDD7E4DC690}"/>
              </a:ext>
            </a:extLst>
          </p:cNvPr>
          <p:cNvSpPr/>
          <p:nvPr/>
        </p:nvSpPr>
        <p:spPr>
          <a:xfrm>
            <a:off x="9032123" y="3923899"/>
            <a:ext cx="731520" cy="731520"/>
          </a:xfrm>
          <a:prstGeom prst="chevron">
            <a:avLst/>
          </a:prstGeom>
          <a:solidFill>
            <a:srgbClr val="FFB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47A1"/>
                </a:solidFill>
              </a:defRPr>
            </a:pPr>
            <a:r>
              <a:t>Beyond the MVP: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5486400" cy="109728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B300"/>
                </a:solidFill>
              </a:defRPr>
            </a:pPr>
            <a:r>
              <a:rPr sz="2000" dirty="0"/>
              <a:t>Phase 2: Video Analytics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/>
              <a:t>Deep performance tracking powered by AI video review.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731520" cy="7315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657600"/>
            <a:ext cx="5486400" cy="109728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B300"/>
                </a:solidFill>
              </a:defRPr>
            </a:pPr>
            <a:r>
              <a:rPr sz="2000" dirty="0"/>
              <a:t>Phase 3: Blockchain Ledger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/>
              <a:t>100% tamper-proof immutable records for universities.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5029200"/>
            <a:ext cx="731520" cy="7315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5029200"/>
            <a:ext cx="5486400" cy="109728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B300"/>
                </a:solidFill>
              </a:defRPr>
            </a:pPr>
            <a:r>
              <a:rPr sz="2000" dirty="0"/>
              <a:t>Phase 4: Mobile Student App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/>
              <a:t>Native app for students to carry their profiles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0D47A1"/>
                </a:solidFill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 Opportunity (TAM)</a:t>
            </a:r>
          </a:p>
        </p:txBody>
      </p:sp>
      <p:sp>
        <p:nvSpPr>
          <p:cNvPr id="3" name="Donut 2"/>
          <p:cNvSpPr/>
          <p:nvPr/>
        </p:nvSpPr>
        <p:spPr>
          <a:xfrm>
            <a:off x="1828800" y="2286000"/>
            <a:ext cx="3200400" cy="3200400"/>
          </a:xfrm>
          <a:prstGeom prst="donut">
            <a:avLst/>
          </a:prstGeom>
          <a:solidFill>
            <a:srgbClr val="0D47A1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$12B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228600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D47A1"/>
                </a:solidFill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Global Opportunity</a:t>
            </a:r>
            <a:b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srgbClr val="0D47A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E293B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Youth Sports &amp; Arts Scholarships represent a multi-billion dollar industry globally.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1E293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1E293B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Thousands of foundations lack a streamlined tool to discover verified, eligible candidates at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FFFFF"/>
                </a:solidFill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Our Unique Selling Proposition (USP)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365760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D47A1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Current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0" cy="73152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D47A1"/>
                </a:solidFill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TalentLink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E293B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Fragmented Spreadsheets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486400" y="3383280"/>
            <a:ext cx="548640" cy="36576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0" y="3200400"/>
            <a:ext cx="4572000" cy="731520"/>
          </a:xfrm>
          <a:prstGeom prst="rect">
            <a:avLst/>
          </a:prstGeom>
          <a:solidFill>
            <a:srgbClr val="0D47A1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FFB300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Unified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E293B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Self-Reported / Unverified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4297680"/>
            <a:ext cx="548640" cy="36576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4114800"/>
            <a:ext cx="4572000" cy="731520"/>
          </a:xfrm>
          <a:prstGeom prst="rect">
            <a:avLst/>
          </a:prstGeom>
          <a:solidFill>
            <a:srgbClr val="0D47A1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FFB300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100% Certified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0292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E293B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Manual Email Inquiries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5212080"/>
            <a:ext cx="548640" cy="365760"/>
          </a:xfrm>
          <a:prstGeom prst="rightArrow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5029200"/>
            <a:ext cx="4572000" cy="731520"/>
          </a:xfrm>
          <a:prstGeom prst="rect">
            <a:avLst/>
          </a:prstGeom>
          <a:solidFill>
            <a:srgbClr val="0D47A1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FFB300"/>
                </a:solidFill>
              </a:defRPr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1-Click Direct Offers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0D47A1"/>
                </a:solidFill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Ask (Call to Action)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8531352" cy="3200400"/>
          </a:xfrm>
          <a:prstGeom prst="roundRect">
            <a:avLst/>
          </a:prstGeom>
          <a:solidFill>
            <a:srgbClr val="0D47A1"/>
          </a:solidFill>
          <a:ln w="381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B300"/>
                </a:solidFill>
              </a:defRPr>
            </a:pPr>
            <a:b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are seeking Pilot Partners</a:t>
            </a:r>
            <a:b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B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sz="3600" b="1" i="0" u="none" strike="noStrike" kern="1200" cap="none" spc="0" normalizeH="0" baseline="0" noProof="0">
              <a:ln>
                <a:noFill/>
              </a:ln>
              <a:solidFill>
                <a:srgbClr val="FFB3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>
                <a:solidFill>
                  <a:srgbClr val="FFFFFF"/>
                </a:solidFill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Join us in launching the MVP across 5 core educational institutions.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453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D'vock Akoi</cp:lastModifiedBy>
  <cp:revision>4</cp:revision>
  <dcterms:created xsi:type="dcterms:W3CDTF">2013-01-27T09:14:16Z</dcterms:created>
  <dcterms:modified xsi:type="dcterms:W3CDTF">2026-09-22T11:51:05Z</dcterms:modified>
  <cp:category/>
</cp:coreProperties>
</file>